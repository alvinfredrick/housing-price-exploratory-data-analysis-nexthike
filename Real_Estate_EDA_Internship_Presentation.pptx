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75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329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427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540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450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034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146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070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570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508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105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313055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4821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778159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8380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548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850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58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9" r:id="rId1"/>
    <p:sldLayoutId id="2147484150" r:id="rId2"/>
    <p:sldLayoutId id="2147484151" r:id="rId3"/>
    <p:sldLayoutId id="2147484152" r:id="rId4"/>
    <p:sldLayoutId id="2147484153" r:id="rId5"/>
    <p:sldLayoutId id="2147484154" r:id="rId6"/>
    <p:sldLayoutId id="2147484155" r:id="rId7"/>
    <p:sldLayoutId id="2147484156" r:id="rId8"/>
    <p:sldLayoutId id="2147484157" r:id="rId9"/>
    <p:sldLayoutId id="2147484158" r:id="rId10"/>
    <p:sldLayoutId id="2147484159" r:id="rId11"/>
    <p:sldLayoutId id="2147484160" r:id="rId12"/>
    <p:sldLayoutId id="2147484161" r:id="rId13"/>
    <p:sldLayoutId id="2147484162" r:id="rId14"/>
    <p:sldLayoutId id="2147484163" r:id="rId15"/>
    <p:sldLayoutId id="21474841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0225" y="2563651"/>
            <a:ext cx="8003549" cy="748307"/>
          </a:xfrm>
        </p:spPr>
        <p:txBody>
          <a:bodyPr>
            <a:noAutofit/>
          </a:bodyPr>
          <a:lstStyle/>
          <a:p>
            <a:pPr>
              <a:defRPr sz="3600" b="1">
                <a:solidFill>
                  <a:srgbClr val="0F203E"/>
                </a:solidFill>
              </a:defRPr>
            </a:pPr>
            <a:r>
              <a:rPr sz="4800" dirty="0"/>
              <a:t>Real Estate Market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2975" y="3311958"/>
            <a:ext cx="6500863" cy="508995"/>
          </a:xfrm>
        </p:spPr>
        <p:txBody>
          <a:bodyPr>
            <a:no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rPr sz="3200" b="1" dirty="0"/>
              <a:t>Exploratory Data Analysis (EDA)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116573-64E4-4EED-B1BA-004275B0CB96}"/>
              </a:ext>
            </a:extLst>
          </p:cNvPr>
          <p:cNvSpPr txBox="1"/>
          <p:nvPr/>
        </p:nvSpPr>
        <p:spPr>
          <a:xfrm>
            <a:off x="4329112" y="4942879"/>
            <a:ext cx="41719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rPr lang="en-IN" dirty="0"/>
              <a:t>Prepared by: Alvin Fredrick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rPr lang="en-IN" dirty="0"/>
              <a:t>Email: alvin.frederick94@gmail.com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EB03FAD-9E53-436B-BA5F-551650E803DC}"/>
              </a:ext>
            </a:extLst>
          </p:cNvPr>
          <p:cNvSpPr txBox="1">
            <a:spLocks/>
          </p:cNvSpPr>
          <p:nvPr/>
        </p:nvSpPr>
        <p:spPr>
          <a:xfrm>
            <a:off x="620475" y="670818"/>
            <a:ext cx="7560149" cy="88719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NEXTHIKES IT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203E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Analyzed real estate dataset to identify pricing trends.</a:t>
            </a:r>
          </a:p>
          <a:p>
            <a:pPr lvl="1">
              <a:defRPr sz="1800">
                <a:solidFill>
                  <a:srgbClr val="323232"/>
                </a:solidFill>
              </a:defRPr>
            </a:pPr>
            <a:r>
              <a:t>Evaluated key drivers impacting property value.</a:t>
            </a:r>
          </a:p>
          <a:p>
            <a:pPr lvl="1">
              <a:defRPr sz="1800">
                <a:solidFill>
                  <a:srgbClr val="323232"/>
                </a:solidFill>
              </a:defRPr>
            </a:pPr>
            <a:r>
              <a:t>Delivered actionable insights for business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203E"/>
                </a:solidFill>
              </a:defRPr>
            </a:pPr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Understanding factors influencing property prices.</a:t>
            </a:r>
          </a:p>
          <a:p>
            <a:pPr lvl="1">
              <a:defRPr sz="1800">
                <a:solidFill>
                  <a:srgbClr val="323232"/>
                </a:solidFill>
              </a:defRPr>
            </a:pPr>
            <a:r>
              <a:t>Identifying high-value features for investment focus.</a:t>
            </a:r>
          </a:p>
          <a:p>
            <a:pPr lvl="1">
              <a:defRPr sz="1800">
                <a:solidFill>
                  <a:srgbClr val="323232"/>
                </a:solidFill>
              </a:defRPr>
            </a:pPr>
            <a:r>
              <a:t>Supporting pricing strategy using data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203E"/>
                </a:solidFill>
              </a:defRPr>
            </a:pPr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Includes property size, bedrooms, bathrooms, location.</a:t>
            </a:r>
          </a:p>
          <a:p>
            <a:pPr lvl="1">
              <a:defRPr sz="1800">
                <a:solidFill>
                  <a:srgbClr val="323232"/>
                </a:solidFill>
              </a:defRPr>
            </a:pPr>
            <a:r>
              <a:t>Target variable: Property Price.</a:t>
            </a:r>
          </a:p>
          <a:p>
            <a:pPr lvl="1">
              <a:defRPr sz="1800">
                <a:solidFill>
                  <a:srgbClr val="323232"/>
                </a:solidFill>
              </a:defRPr>
            </a:pPr>
            <a:r>
              <a:t>Dataset used for trend analysis and insight extraction.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3600" b="1">
                <a:solidFill>
                  <a:srgbClr val="0F203E"/>
                </a:solidFill>
              </a:defRPr>
            </a:pPr>
            <a:r>
              <a:t>Data Preparation &amp;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Handled missing values and inconsistencies.</a:t>
            </a:r>
          </a:p>
          <a:p>
            <a:pPr lvl="1">
              <a:defRPr sz="1800">
                <a:solidFill>
                  <a:srgbClr val="323232"/>
                </a:solidFill>
              </a:defRPr>
            </a:pPr>
            <a:r>
              <a:t>Validated data types and removed duplicates.</a:t>
            </a:r>
          </a:p>
          <a:p>
            <a:pPr lvl="1">
              <a:defRPr sz="1800">
                <a:solidFill>
                  <a:srgbClr val="323232"/>
                </a:solidFill>
              </a:defRPr>
            </a:pPr>
            <a:r>
              <a:t>Outlier detection using visualization techniques.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3600" b="1">
                <a:solidFill>
                  <a:srgbClr val="0F203E"/>
                </a:solidFill>
              </a:defRPr>
            </a:pPr>
            <a:r>
              <a:t>Exploratory Data Analysis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Univariate analysis for feature distribution.</a:t>
            </a:r>
          </a:p>
          <a:p>
            <a:pPr lvl="1">
              <a:defRPr sz="1800">
                <a:solidFill>
                  <a:srgbClr val="323232"/>
                </a:solidFill>
              </a:defRPr>
            </a:pPr>
            <a:r>
              <a:t>Bivariate analysis to evaluate price relationships.</a:t>
            </a:r>
          </a:p>
          <a:p>
            <a:pPr lvl="1">
              <a:defRPr sz="1800">
                <a:solidFill>
                  <a:srgbClr val="323232"/>
                </a:solidFill>
              </a:defRPr>
            </a:pPr>
            <a:r>
              <a:t>Correlation heatmap to detect strong associations.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001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03E"/>
                </a:solidFill>
              </a:defRPr>
            </a:pPr>
            <a:r>
              <a:t>Visualization 1: Market Insight</a:t>
            </a:r>
          </a:p>
        </p:txBody>
      </p:sp>
      <p:pic>
        <p:nvPicPr>
          <p:cNvPr id="5" name="Picture 4" descr="figur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6229350" cy="488417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51497" y="5798572"/>
            <a:ext cx="7772400" cy="914400"/>
          </a:xfrm>
          <a:prstGeom prst="roundRect">
            <a:avLst/>
          </a:prstGeom>
          <a:solidFill>
            <a:srgbClr val="DCE6F2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 dirty="0">
                <a:highlight>
                  <a:srgbClr val="000000"/>
                </a:highlight>
              </a:rPr>
              <a:t>Business Insight: This visualization highlights pricing patterns and supports strategic decision-making.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080" y="2133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03E"/>
                </a:solidFill>
              </a:defRPr>
            </a:pPr>
            <a:r>
              <a:t>Visualization 2: Market Insight</a:t>
            </a:r>
          </a:p>
        </p:txBody>
      </p:sp>
      <p:pic>
        <p:nvPicPr>
          <p:cNvPr id="5" name="Picture 4" descr="figur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42975"/>
            <a:ext cx="6569299" cy="39576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03E"/>
                </a:solidFill>
              </a:defRPr>
            </a:pPr>
            <a:r>
              <a:t>Visualization 3: Market Insight</a:t>
            </a:r>
          </a:p>
        </p:txBody>
      </p:sp>
      <p:pic>
        <p:nvPicPr>
          <p:cNvPr id="5" name="Picture 4" descr="figur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6281006" cy="39147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03E"/>
                </a:solidFill>
              </a:defRPr>
            </a:pPr>
            <a:r>
              <a:t>Visualization 4: Market Insight</a:t>
            </a:r>
          </a:p>
        </p:txBody>
      </p:sp>
      <p:pic>
        <p:nvPicPr>
          <p:cNvPr id="5" name="Picture 4" descr="figur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1"/>
            <a:ext cx="5286375" cy="4011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03E"/>
                </a:solidFill>
              </a:defRPr>
            </a:pPr>
            <a:r>
              <a:t>Visualization 5: Market Insight</a:t>
            </a:r>
          </a:p>
        </p:txBody>
      </p:sp>
      <p:pic>
        <p:nvPicPr>
          <p:cNvPr id="5" name="Picture 4" descr="figur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3" y="822960"/>
            <a:ext cx="7315200" cy="456778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03E"/>
                </a:solidFill>
              </a:defRPr>
            </a:pPr>
            <a:r>
              <a:t>Visualization 6: Market Insight</a:t>
            </a:r>
          </a:p>
        </p:txBody>
      </p:sp>
      <p:pic>
        <p:nvPicPr>
          <p:cNvPr id="5" name="Picture 4" descr="figur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4943475" cy="396210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03E"/>
                </a:solidFill>
              </a:defRPr>
            </a:pPr>
            <a:r>
              <a:t>Visualization 7: Market Insight</a:t>
            </a:r>
          </a:p>
        </p:txBody>
      </p:sp>
      <p:pic>
        <p:nvPicPr>
          <p:cNvPr id="5" name="Picture 4" descr="figur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84" y="914401"/>
            <a:ext cx="6713891" cy="451484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03E"/>
                </a:solidFill>
              </a:defRPr>
            </a:pPr>
            <a:r>
              <a:t>Visualization 8: Market Insight</a:t>
            </a:r>
          </a:p>
        </p:txBody>
      </p:sp>
      <p:pic>
        <p:nvPicPr>
          <p:cNvPr id="5" name="Picture 4" descr="figur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1"/>
            <a:ext cx="6557629" cy="440976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03E"/>
                </a:solidFill>
              </a:defRPr>
            </a:pPr>
            <a:r>
              <a:t>Visualization 9: Market Insight</a:t>
            </a:r>
          </a:p>
        </p:txBody>
      </p:sp>
      <p:pic>
        <p:nvPicPr>
          <p:cNvPr id="5" name="Picture 4" descr="figur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6607662" cy="444341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03E"/>
                </a:solidFill>
              </a:defRPr>
            </a:pPr>
            <a:r>
              <a:t>Visualization 10: Market Insight</a:t>
            </a:r>
          </a:p>
        </p:txBody>
      </p:sp>
      <p:pic>
        <p:nvPicPr>
          <p:cNvPr id="5" name="Picture 4" descr="figur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1"/>
            <a:ext cx="6200775" cy="443040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03E"/>
                </a:solidFill>
              </a:defRPr>
            </a:pPr>
            <a:r>
              <a:t>Visualization 11: Market Insight</a:t>
            </a:r>
          </a:p>
        </p:txBody>
      </p:sp>
      <p:pic>
        <p:nvPicPr>
          <p:cNvPr id="5" name="Picture 4" descr="figur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949180"/>
            <a:ext cx="5314951" cy="456451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03E"/>
                </a:solidFill>
              </a:defRPr>
            </a:pPr>
            <a:r>
              <a:t>Visualization 12: Market Insight</a:t>
            </a:r>
          </a:p>
        </p:txBody>
      </p:sp>
      <p:pic>
        <p:nvPicPr>
          <p:cNvPr id="5" name="Picture 4" descr="figur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261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03E"/>
                </a:solidFill>
              </a:defRPr>
            </a:pPr>
            <a:r>
              <a:t>Visualization 13: Market Insight</a:t>
            </a:r>
          </a:p>
        </p:txBody>
      </p:sp>
      <p:pic>
        <p:nvPicPr>
          <p:cNvPr id="5" name="Picture 4" descr="figur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89787"/>
            <a:ext cx="7315200" cy="3261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203E"/>
                </a:solidFill>
              </a:defRPr>
            </a:pPr>
            <a:r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Property size strongly influences pricing.</a:t>
            </a:r>
          </a:p>
          <a:p>
            <a:pPr lvl="1">
              <a:defRPr sz="1800">
                <a:solidFill>
                  <a:srgbClr val="323232"/>
                </a:solidFill>
              </a:defRPr>
            </a:pPr>
            <a:r>
              <a:t>Location significantly impacts value variation.</a:t>
            </a:r>
          </a:p>
          <a:p>
            <a:pPr lvl="1">
              <a:defRPr sz="1800">
                <a:solidFill>
                  <a:srgbClr val="323232"/>
                </a:solidFill>
              </a:defRPr>
            </a:pPr>
            <a:r>
              <a:t>Bedrooms and bathrooms positively correlate with price.</a:t>
            </a:r>
          </a:p>
          <a:p>
            <a:pPr lvl="1">
              <a:defRPr sz="1800">
                <a:solidFill>
                  <a:srgbClr val="323232"/>
                </a:solidFill>
              </a:defRPr>
            </a:pPr>
            <a:r>
              <a:t>Data-driven insights improve investment strategy.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3600" b="1">
                <a:solidFill>
                  <a:srgbClr val="0F203E"/>
                </a:solidFill>
              </a:defRPr>
            </a:pPr>
            <a:r>
              <a:t>Conclusion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EDA successfully identified major price drivers.</a:t>
            </a:r>
          </a:p>
          <a:p>
            <a:pPr lvl="1">
              <a:defRPr sz="1800">
                <a:solidFill>
                  <a:srgbClr val="323232"/>
                </a:solidFill>
              </a:defRPr>
            </a:pPr>
            <a:r>
              <a:t>Recommend predictive modeling for price forecasting.</a:t>
            </a:r>
          </a:p>
          <a:p>
            <a:pPr lvl="1">
              <a:defRPr sz="1800">
                <a:solidFill>
                  <a:srgbClr val="323232"/>
                </a:solidFill>
              </a:defRPr>
            </a:pPr>
            <a:r>
              <a:t>Use insights to guide pricing and investment strategy.</a:t>
            </a:r>
          </a:p>
          <a:p>
            <a:pPr lvl="1">
              <a:defRPr sz="1800">
                <a:solidFill>
                  <a:srgbClr val="323232"/>
                </a:solidFill>
              </a:defRPr>
            </a:pPr>
            <a:r>
              <a:t>Future Scope: Deploy ML model for automation.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51</TotalTime>
  <Words>290</Words>
  <Application>Microsoft Office PowerPoint</Application>
  <PresentationFormat>On-screen Show (4:3)</PresentationFormat>
  <Paragraphs>49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Trebuchet MS</vt:lpstr>
      <vt:lpstr>Wingdings 3</vt:lpstr>
      <vt:lpstr>Facet</vt:lpstr>
      <vt:lpstr>Real Estate Market Analysis</vt:lpstr>
      <vt:lpstr>Executive Summary</vt:lpstr>
      <vt:lpstr>Business Problem</vt:lpstr>
      <vt:lpstr>Dataset Overview</vt:lpstr>
      <vt:lpstr>Data Preparation &amp; Cleaning</vt:lpstr>
      <vt:lpstr>Exploratory Data Analysis Approach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Business Insights</vt:lpstr>
      <vt:lpstr>Conclusion &amp;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Estate Market Analysis</dc:title>
  <dc:subject/>
  <dc:creator>DELL</dc:creator>
  <cp:keywords/>
  <dc:description>generated using python-pptx</dc:description>
  <cp:lastModifiedBy>Alvin Fredrick</cp:lastModifiedBy>
  <cp:revision>2</cp:revision>
  <dcterms:created xsi:type="dcterms:W3CDTF">2013-01-27T09:14:16Z</dcterms:created>
  <dcterms:modified xsi:type="dcterms:W3CDTF">2026-02-12T08:44:39Z</dcterms:modified>
  <cp:category/>
</cp:coreProperties>
</file>